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Capa. O recado: o placar é dos líderes, não do Gui.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Regras. Reforce a de número pronto: lâmina preenchida antes da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Molde. Cada líder copia esta lâmina e fixa os 1-3 indicadores com o Gui.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Exemplo. Mostre como exceção vira pedido claro: quem destrava, o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FFD9CC"/>
                </a:solidFill>
                <a:latin typeface="Manrope"/>
              </a:rPr>
              <a:t>EFIZI · PLACAR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50">
                <a:solidFill>
                  <a:srgbClr val="FFD9CC"/>
                </a:solidFill>
                <a:latin typeface="Manrope"/>
              </a:rPr>
              <a:t>TODA SEGUNDA · 9H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spc="260">
                <a:solidFill>
                  <a:srgbClr val="FFD9CC"/>
                </a:solidFill>
                <a:latin typeface="Manrope"/>
              </a:rPr>
              <a:t>REUNIÃO DE LÍDERES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1">
                <a:solidFill>
                  <a:srgbClr val="FFFFFF"/>
                </a:solidFill>
                <a:latin typeface="Manrope"/>
              </a:rPr>
              <a:t>O placar da semana,</a:t>
            </a:r>
          </a:p>
          <a:p>
            <a:pPr algn="l">
              <a:lnSpc>
                <a:spcPct val="104000"/>
              </a:lnSpc>
            </a:pPr>
            <a:r>
              <a:rPr sz="4400" b="1">
                <a:solidFill>
                  <a:srgbClr val="FFD500"/>
                </a:solidFill>
                <a:latin typeface="Manrope"/>
              </a:rPr>
              <a:t>contado por quem é dono dele.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ECE5"/>
                </a:solidFill>
                <a:latin typeface="Manrope"/>
              </a:rPr>
              <a:t>Cada líder abre com os números da sua área: o que andou, o que travou e onde precisa de ajuda.</a:t>
            </a:r>
          </a:p>
        </p:txBody>
      </p:sp>
      <p:pic>
        <p:nvPicPr>
          <p:cNvPr id="7" name="Picture 6" descr="logo-on-or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742432"/>
            <a:ext cx="1144143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048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00">
                <a:solidFill>
                  <a:srgbClr val="FFD9CC"/>
                </a:solidFill>
                <a:latin typeface="Manrope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8A8F94"/>
                </a:solidFill>
                <a:latin typeface="Manrope"/>
              </a:rPr>
              <a:t>EFIZI · PLACAR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00">
                <a:solidFill>
                  <a:srgbClr val="8A8F94"/>
                </a:solidFill>
                <a:latin typeface="Manrope"/>
              </a:rPr>
              <a:t>02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46403"/>
            <a:ext cx="256032" cy="25603"/>
          </a:xfrm>
          <a:prstGeom prst="rect">
            <a:avLst/>
          </a:prstGeom>
          <a:solidFill>
            <a:srgbClr val="FF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8686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FF4000"/>
                </a:solidFill>
                <a:latin typeface="Manrope"/>
              </a:rPr>
              <a:t>COMO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  <a:latin typeface="Manrope"/>
              </a:rPr>
              <a:t>Cinco minutos por área. Toda segunda.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4000"/>
                </a:solidFill>
                <a:latin typeface="Manro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nrope"/>
              </a:rPr>
              <a:t>1 a 3 números fixos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48840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53A40"/>
                </a:solidFill>
                <a:latin typeface="Manrope"/>
              </a:rPr>
              <a:t>Sempre os mesmos, contra a semana anterior e contra a meta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898648"/>
            <a:ext cx="10543032" cy="0"/>
          </a:xfrm>
          <a:prstGeom prst="line">
            <a:avLst/>
          </a:prstGeom>
          <a:ln w="9525">
            <a:solidFill>
              <a:srgbClr val="DFE2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0632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4000"/>
                </a:solidFill>
                <a:latin typeface="Manrop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nrope"/>
              </a:rPr>
              <a:t>1 foco da semana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953512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53A40"/>
                </a:solidFill>
                <a:latin typeface="Manrope"/>
              </a:rPr>
              <a:t>A única coisa mais importante que a área vai atacar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703320"/>
            <a:ext cx="10543032" cy="0"/>
          </a:xfrm>
          <a:prstGeom prst="line">
            <a:avLst/>
          </a:prstGeom>
          <a:ln w="9525">
            <a:solidFill>
              <a:srgbClr val="DFE2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86791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4000"/>
                </a:solidFill>
                <a:latin typeface="Manrop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5818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nrope"/>
              </a:rPr>
              <a:t>Exceções na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8184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53A40"/>
                </a:solidFill>
                <a:latin typeface="Manrope"/>
              </a:rPr>
              <a:t>O que está vermelho e o que depende de outra área ou do Gui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507992"/>
            <a:ext cx="10543032" cy="0"/>
          </a:xfrm>
          <a:prstGeom prst="line">
            <a:avLst/>
          </a:prstGeom>
          <a:ln w="9525">
            <a:solidFill>
              <a:srgbClr val="DFE2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67258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4000"/>
                </a:solidFill>
                <a:latin typeface="Manrop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628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Manrope"/>
              </a:rPr>
              <a:t>Número chega pronto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62856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53A40"/>
                </a:solidFill>
                <a:latin typeface="Manrope"/>
              </a:rPr>
              <a:t>Lâmina preenchida antes da reunião, não se monta na hora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50992"/>
            <a:ext cx="45720" cy="658368"/>
          </a:xfrm>
          <a:prstGeom prst="rect">
            <a:avLst/>
          </a:prstGeom>
          <a:solidFill>
            <a:srgbClr val="FF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742432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A0A0A"/>
                </a:solidFill>
                <a:latin typeface="Manrope"/>
              </a:rPr>
              <a:t>Quem apresenta é o líder. O papel do Gui é ouvir e </a:t>
            </a:r>
            <a:r>
              <a:rPr sz="1500" b="1">
                <a:solidFill>
                  <a:srgbClr val="0A0A0A"/>
                </a:solidFill>
                <a:latin typeface="Manrope"/>
              </a:rPr>
              <a:t>destravar a exceção</a:t>
            </a:r>
            <a:r>
              <a:rPr sz="1500" b="0">
                <a:solidFill>
                  <a:srgbClr val="0A0A0A"/>
                </a:solidFill>
                <a:latin typeface="Manrope"/>
              </a:rPr>
              <a:t>, não narrar a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8A8F94"/>
                </a:solidFill>
                <a:latin typeface="Manrope"/>
              </a:rPr>
              <a:t>PLACAR · SEMANA DE DD/MM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00">
                <a:solidFill>
                  <a:srgbClr val="8A8F94"/>
                </a:solidFill>
                <a:latin typeface="Manrope"/>
              </a:rPr>
              <a:t>03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90956"/>
            <a:ext cx="256032" cy="25603"/>
          </a:xfrm>
          <a:prstGeom prst="rect">
            <a:avLst/>
          </a:prstGeom>
          <a:solidFill>
            <a:srgbClr val="FF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7132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FF4000"/>
                </a:solidFill>
                <a:latin typeface="Manrope"/>
              </a:rPr>
              <a:t>PLACAR DA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Manrope"/>
              </a:rPr>
              <a:t>Nome da área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1412" y="1060704"/>
            <a:ext cx="2354580" cy="420624"/>
          </a:xfrm>
          <a:prstGeom prst="roundRect">
            <a:avLst>
              <a:gd name="adj" fmla="val 50000"/>
            </a:avLst>
          </a:prstGeom>
          <a:solidFill>
            <a:srgbClr val="E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1412" y="1060704"/>
            <a:ext cx="23545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120">
                <a:solidFill>
                  <a:srgbClr val="0A0A0A"/>
                </a:solidFill>
                <a:latin typeface="Manrope"/>
              </a:rPr>
              <a:t>LÍDER RESPONSÁVEL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" y="1965960"/>
            <a:ext cx="59436" cy="2331720"/>
          </a:xfrm>
          <a:prstGeom prst="rect">
            <a:avLst/>
          </a:prstGeom>
          <a:solidFill>
            <a:srgbClr val="1E8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INDICADOR FIXO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E874B"/>
                </a:solidFill>
                <a:latin typeface="Manrope"/>
              </a:rPr>
              <a:t>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874B"/>
                </a:solidFill>
                <a:latin typeface="Manrope"/>
              </a:rPr>
              <a:t>▲ +0%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Meta: 000 · na meta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0268" y="1965960"/>
            <a:ext cx="59436" cy="2331720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INDICADOR FIXO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Manrope"/>
              </a:rPr>
              <a:t>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361B"/>
                </a:solidFill>
                <a:latin typeface="Manrope"/>
              </a:rPr>
              <a:t>▼ -0%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90872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90872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Meta: 00% · atenção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5572" y="1965960"/>
            <a:ext cx="59436" cy="2331720"/>
          </a:xfrm>
          <a:prstGeom prst="rect">
            <a:avLst/>
          </a:prstGeom>
          <a:solidFill>
            <a:srgbClr val="C4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INDICADOR FIXO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4361B"/>
                </a:solidFill>
                <a:latin typeface="Manrope"/>
              </a:rPr>
              <a:t>R$ 0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361B"/>
                </a:solidFill>
                <a:latin typeface="Manrope"/>
              </a:rPr>
              <a:t>▼ -0%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66176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66176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Meta: R$ 0 · fora da meta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5989320" cy="1572768"/>
          </a:xfrm>
          <a:prstGeom prst="roundRect">
            <a:avLst>
              <a:gd name="adj" fmla="val 10000"/>
            </a:avLst>
          </a:prstGeom>
          <a:solidFill>
            <a:srgbClr val="E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9469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FF4000"/>
                </a:solidFill>
                <a:latin typeface="Manrope"/>
              </a:rPr>
              <a:t>FOCO DA SEMANA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276088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0A0A0A"/>
                </a:solidFill>
                <a:latin typeface="Manrope"/>
              </a:rPr>
              <a:t>A única coisa mais importante que a área ataca até sexta.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2592" y="4709160"/>
            <a:ext cx="434340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3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946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C4361B"/>
                </a:solidFill>
                <a:latin typeface="Manrope"/>
              </a:rPr>
              <a:t>EXCEÇÕES / TRAVAS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276088"/>
            <a:ext cx="3767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A0A0A"/>
                </a:solidFill>
                <a:latin typeface="Manrope"/>
              </a:rPr>
              <a:t>O que está vermelho e por quê. </a:t>
            </a:r>
            <a:r>
              <a:rPr sz="1150" b="1">
                <a:solidFill>
                  <a:srgbClr val="C4361B"/>
                </a:solidFill>
                <a:latin typeface="Manrope"/>
              </a:rPr>
              <a:t>Travado esperando:</a:t>
            </a:r>
            <a:r>
              <a:rPr sz="1150" b="0">
                <a:solidFill>
                  <a:srgbClr val="0A0A0A"/>
                </a:solidFill>
                <a:latin typeface="Manrope"/>
              </a:rPr>
              <a:t> nome de quem destrava.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8A8F94"/>
                </a:solidFill>
                <a:latin typeface="Manrope"/>
              </a:rPr>
              <a:t>PLACAR · SEMANA DE 06/07 A 12/07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00">
                <a:solidFill>
                  <a:srgbClr val="8A8F94"/>
                </a:solidFill>
                <a:latin typeface="Manrope"/>
              </a:rPr>
              <a:t>04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90956"/>
            <a:ext cx="256032" cy="25603"/>
          </a:xfrm>
          <a:prstGeom prst="rect">
            <a:avLst/>
          </a:prstGeom>
          <a:solidFill>
            <a:srgbClr val="FF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71323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FF4000"/>
                </a:solidFill>
                <a:latin typeface="Manrope"/>
              </a:rPr>
              <a:t>EXEMPLO PREENCHIDO · NÚMEROS ILUSTRATIVOS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Manrope"/>
              </a:rPr>
              <a:t>Entrega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62972" y="1060704"/>
            <a:ext cx="1303020" cy="420624"/>
          </a:xfrm>
          <a:prstGeom prst="roundRect">
            <a:avLst>
              <a:gd name="adj" fmla="val 50000"/>
            </a:avLst>
          </a:prstGeom>
          <a:solidFill>
            <a:srgbClr val="E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62972" y="1060704"/>
            <a:ext cx="13030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spc="120">
                <a:solidFill>
                  <a:srgbClr val="0A0A0A"/>
                </a:solidFill>
                <a:latin typeface="Manrope"/>
              </a:rPr>
              <a:t>KATLLEN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" y="1965960"/>
            <a:ext cx="59436" cy="2331720"/>
          </a:xfrm>
          <a:prstGeom prst="rect">
            <a:avLst/>
          </a:prstGeom>
          <a:solidFill>
            <a:srgbClr val="1E8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ACURACIDADE DE INVENTÁRIO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E874B"/>
                </a:solidFill>
                <a:latin typeface="Manrope"/>
              </a:rPr>
              <a:t>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874B"/>
                </a:solidFill>
                <a:latin typeface="Manrope"/>
              </a:rPr>
              <a:t>▲ +1pp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Baseline até 14/08 · meta em 17/08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0268" y="1965960"/>
            <a:ext cx="59436" cy="2331720"/>
          </a:xfrm>
          <a:prstGeom prst="rect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TROCA E DEVOLUÇÃO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Manrope"/>
              </a:rPr>
              <a:t>2,4%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361B"/>
                </a:solidFill>
                <a:latin typeface="Manrope"/>
              </a:rPr>
              <a:t>▲ +0,3pp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90872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90872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Baseline até 14/08 · atenção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874519"/>
            <a:ext cx="3392424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5572" y="1965960"/>
            <a:ext cx="59436" cy="2331720"/>
          </a:xfrm>
          <a:prstGeom prst="rect">
            <a:avLst/>
          </a:prstGeom>
          <a:solidFill>
            <a:srgbClr val="C4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213055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353A40"/>
                </a:solidFill>
                <a:latin typeface="Manrope"/>
              </a:rPr>
              <a:t>CUSTO DE FRETE / RECEITA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44144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4361B"/>
                </a:solidFill>
                <a:latin typeface="Manrope"/>
              </a:rPr>
              <a:t>12,8%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335584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361B"/>
                </a:solidFill>
                <a:latin typeface="Manrope"/>
              </a:rPr>
              <a:t>▲ +1,1pp  </a:t>
            </a:r>
            <a:r>
              <a:rPr sz="1050" b="0">
                <a:solidFill>
                  <a:srgbClr val="353A40"/>
                </a:solidFill>
                <a:latin typeface="Manrope"/>
              </a:rPr>
              <a:t>vs semana anterior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66176" y="3813048"/>
            <a:ext cx="2807208" cy="0"/>
          </a:xfrm>
          <a:prstGeom prst="line">
            <a:avLst/>
          </a:prstGeom>
          <a:ln w="9525">
            <a:solidFill>
              <a:srgbClr val="DFE2E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66176" y="3941063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53A40"/>
                </a:solidFill>
                <a:latin typeface="Manrope"/>
              </a:rPr>
              <a:t>Só frete de cotação · realizado pendente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5989320" cy="1572768"/>
          </a:xfrm>
          <a:prstGeom prst="roundRect">
            <a:avLst>
              <a:gd name="adj" fmla="val 10000"/>
            </a:avLst>
          </a:prstGeom>
          <a:solidFill>
            <a:srgbClr val="E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9469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FF4000"/>
                </a:solidFill>
                <a:latin typeface="Manrope"/>
              </a:rPr>
              <a:t>FOCO DA SEMANA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276088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0A0A0A"/>
                </a:solidFill>
                <a:latin typeface="Manrope"/>
              </a:rPr>
              <a:t>Zerar as coletas Fortlev com mais de 15 dias e fechar o calendário de contagem cíclica.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2592" y="4709160"/>
            <a:ext cx="4343400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3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946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C4361B"/>
                </a:solidFill>
                <a:latin typeface="Manrope"/>
              </a:rPr>
              <a:t>EXCEÇÕES / TRAVAS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276088"/>
            <a:ext cx="3767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A0A0A"/>
                </a:solidFill>
                <a:latin typeface="Manrope"/>
              </a:rPr>
              <a:t>Frete realizado ainda não entra no número. </a:t>
            </a:r>
            <a:r>
              <a:rPr sz="1150" b="1">
                <a:solidFill>
                  <a:srgbClr val="C4361B"/>
                </a:solidFill>
                <a:latin typeface="Manrope"/>
              </a:rPr>
              <a:t>Travado esperando:</a:t>
            </a:r>
            <a:r>
              <a:rPr sz="1150" b="0">
                <a:solidFill>
                  <a:srgbClr val="0A0A0A"/>
                </a:solidFill>
                <a:latin typeface="Manrope"/>
              </a:rPr>
              <a:t> fonte única de venda (Tec).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